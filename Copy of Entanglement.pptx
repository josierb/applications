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bold.fntdata"/><Relationship Id="rId10" Type="http://schemas.openxmlformats.org/officeDocument/2006/relationships/slide" Target="slides/slide5.xml"/><Relationship Id="rId21" Type="http://schemas.openxmlformats.org/officeDocument/2006/relationships/font" Target="fonts/Roboto-regular.fntdata"/><Relationship Id="rId13" Type="http://schemas.openxmlformats.org/officeDocument/2006/relationships/slide" Target="slides/slide8.xml"/><Relationship Id="rId24" Type="http://schemas.openxmlformats.org/officeDocument/2006/relationships/font" Target="fonts/Roboto-boldItalic.fntdata"/><Relationship Id="rId12" Type="http://schemas.openxmlformats.org/officeDocument/2006/relationships/slide" Target="slides/slide7.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3b80aa8a7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3b80aa8a7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914400" rtl="0" algn="l">
              <a:lnSpc>
                <a:spcPct val="150000"/>
              </a:lnSpc>
              <a:spcBef>
                <a:spcPts val="0"/>
              </a:spcBef>
              <a:spcAft>
                <a:spcPts val="0"/>
              </a:spcAft>
              <a:buNone/>
            </a:pPr>
            <a:r>
              <a:rPr lang="en">
                <a:solidFill>
                  <a:schemeClr val="dk1"/>
                </a:solidFill>
                <a:highlight>
                  <a:srgbClr val="FFFFFF"/>
                </a:highlight>
              </a:rPr>
              <a:t>Invariance is the idea that a property is conserved when some transformation is applied. </a:t>
            </a:r>
            <a:endParaRPr>
              <a:solidFill>
                <a:schemeClr val="dk1"/>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3a62637423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3a62637423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a6263742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a6263742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a62637423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a62637423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3a62637423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3a62637423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3a62637423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3a62637423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a6263742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a6263742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a62637423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3a6263742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3a6263742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3a6263742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a62637423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a62637423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3a62637423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3a62637423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a62637423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3a6263742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a62637423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a62637423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experiment mostly shows that there are many obstacles to cross before quantum advantage becomes plausible. However it touches on which quantum properties are necesary for an advantage, and demonstrates how we would utilize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a62637423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a62637423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cbooth.staff.shef.ac.uk/phy304/invariance.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sciencedirect.com/topics/earth-and-planetary-sciences/quantum-optics" TargetMode="External"/><Relationship Id="rId4" Type="http://schemas.openxmlformats.org/officeDocument/2006/relationships/hyperlink" Target="https://www.sciencedirect.com/topics/social-sciences/benchmarking" TargetMode="External"/><Relationship Id="rId5" Type="http://schemas.openxmlformats.org/officeDocument/2006/relationships/hyperlink" Target="https://www.sciencedirect.com/topics/mathematics/projective-measurement" TargetMode="External"/><Relationship Id="rId6" Type="http://schemas.openxmlformats.org/officeDocument/2006/relationships/hyperlink" Target="https://www.sciencedirect.com/topics/nursing-and-health-professions/tomograph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cbooth.staff.shef.ac.uk/phy304/invariance.html" TargetMode="External"/><Relationship Id="rId4" Type="http://schemas.openxmlformats.org/officeDocument/2006/relationships/hyperlink" Target="https://public.lanl.gov/whz/images/Entanglement1.pdf" TargetMode="External"/><Relationship Id="rId9" Type="http://schemas.openxmlformats.org/officeDocument/2006/relationships/hyperlink" Target="https://arxiv.org/abs/2003.08163" TargetMode="External"/><Relationship Id="rId5" Type="http://schemas.openxmlformats.org/officeDocument/2006/relationships/hyperlink" Target="https://av.tib.eu/media/35300" TargetMode="External"/><Relationship Id="rId6" Type="http://schemas.openxmlformats.org/officeDocument/2006/relationships/hyperlink" Target="https://arxiv.org/pdf/1012.3433.pdf" TargetMode="External"/><Relationship Id="rId7" Type="http://schemas.openxmlformats.org/officeDocument/2006/relationships/hyperlink" Target="https://www.sciencedirect.com/topics/engineering/bhattacharya" TargetMode="External"/><Relationship Id="rId8" Type="http://schemas.openxmlformats.org/officeDocument/2006/relationships/hyperlink" Target="https://arxiv.org/abs/2003.0816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467400" y="108700"/>
            <a:ext cx="6005400" cy="3611100"/>
          </a:xfrm>
          <a:prstGeom prst="rect">
            <a:avLst/>
          </a:prstGeom>
          <a:solidFill>
            <a:srgbClr val="6D9EEB"/>
          </a:solidFill>
        </p:spPr>
        <p:txBody>
          <a:bodyPr anchorCtr="0" anchor="b" bIns="91425" lIns="91425" spcFirstLastPara="1" rIns="91425" wrap="square" tIns="91425">
            <a:spAutoFit/>
          </a:bodyPr>
          <a:lstStyle/>
          <a:p>
            <a:pPr indent="0" lvl="0" marL="0" rtl="0" algn="ctr">
              <a:lnSpc>
                <a:spcPct val="115000"/>
              </a:lnSpc>
              <a:spcBef>
                <a:spcPts val="2400"/>
              </a:spcBef>
              <a:spcAft>
                <a:spcPts val="0"/>
              </a:spcAft>
              <a:buClr>
                <a:schemeClr val="dk1"/>
              </a:buClr>
              <a:buSzPts val="1100"/>
              <a:buFont typeface="Arial"/>
              <a:buNone/>
            </a:pPr>
            <a:r>
              <a:rPr b="1" lang="en" sz="3600">
                <a:solidFill>
                  <a:srgbClr val="505050"/>
                </a:solidFill>
                <a:latin typeface="Georgia"/>
                <a:ea typeface="Georgia"/>
                <a:cs typeface="Georgia"/>
                <a:sym typeface="Georgia"/>
              </a:rPr>
              <a:t>Demonstration of </a:t>
            </a:r>
            <a:r>
              <a:rPr b="1" i="1" lang="en" sz="3600">
                <a:solidFill>
                  <a:srgbClr val="505050"/>
                </a:solidFill>
                <a:latin typeface="Georgia"/>
                <a:ea typeface="Georgia"/>
                <a:cs typeface="Georgia"/>
                <a:sym typeface="Georgia"/>
              </a:rPr>
              <a:t>entanglement assisted invariance</a:t>
            </a:r>
            <a:r>
              <a:rPr b="1" lang="en" sz="3600">
                <a:solidFill>
                  <a:srgbClr val="505050"/>
                </a:solidFill>
                <a:latin typeface="Georgia"/>
                <a:ea typeface="Georgia"/>
                <a:cs typeface="Georgia"/>
                <a:sym typeface="Georgia"/>
              </a:rPr>
              <a:t> on IBM's quantum experience</a:t>
            </a:r>
            <a:endParaRPr b="1" sz="3600">
              <a:solidFill>
                <a:srgbClr val="505050"/>
              </a:solidFill>
              <a:latin typeface="Georgia"/>
              <a:ea typeface="Georgia"/>
              <a:cs typeface="Georgia"/>
              <a:sym typeface="Georgia"/>
            </a:endParaRPr>
          </a:p>
          <a:p>
            <a:pPr indent="0" lvl="0" marL="0" rtl="0" algn="ctr">
              <a:spcBef>
                <a:spcPts val="60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Sebastian Deffner</a:t>
            </a:r>
            <a:endParaRPr/>
          </a:p>
        </p:txBody>
      </p:sp>
      <p:sp>
        <p:nvSpPr>
          <p:cNvPr id="56" name="Google Shape;56;p13"/>
          <p:cNvSpPr txBox="1"/>
          <p:nvPr/>
        </p:nvSpPr>
        <p:spPr>
          <a:xfrm>
            <a:off x="127375" y="4556275"/>
            <a:ext cx="344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Georgia"/>
                <a:ea typeface="Georgia"/>
                <a:cs typeface="Georgia"/>
                <a:sym typeface="Georgia"/>
              </a:rPr>
              <a:t>Presented By Josie Burke, Robert Davis, and Leo Zheng </a:t>
            </a:r>
            <a:endParaRPr sz="1000">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What is Invariance?</a:t>
            </a:r>
            <a:endParaRPr b="1" sz="2244"/>
          </a:p>
        </p:txBody>
      </p:sp>
      <p:sp>
        <p:nvSpPr>
          <p:cNvPr id="62" name="Google Shape;62;p14"/>
          <p:cNvSpPr txBox="1"/>
          <p:nvPr>
            <p:ph idx="1" type="body"/>
          </p:nvPr>
        </p:nvSpPr>
        <p:spPr>
          <a:xfrm>
            <a:off x="2703800" y="2280175"/>
            <a:ext cx="3003600" cy="2199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63" name="Google Shape;63;p14"/>
          <p:cNvPicPr preferRelativeResize="0"/>
          <p:nvPr/>
        </p:nvPicPr>
        <p:blipFill>
          <a:blip r:embed="rId3">
            <a:alphaModFix/>
          </a:blip>
          <a:stretch>
            <a:fillRect/>
          </a:stretch>
        </p:blipFill>
        <p:spPr>
          <a:xfrm>
            <a:off x="1454015" y="1154275"/>
            <a:ext cx="5959587" cy="341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2420"/>
              <a:t>Invariance in the Context of Physics</a:t>
            </a:r>
            <a:endParaRPr b="1" sz="2420"/>
          </a:p>
        </p:txBody>
      </p:sp>
      <p:sp>
        <p:nvSpPr>
          <p:cNvPr id="69" name="Google Shape;69;p15"/>
          <p:cNvSpPr txBox="1"/>
          <p:nvPr>
            <p:ph idx="1" type="body"/>
          </p:nvPr>
        </p:nvSpPr>
        <p:spPr>
          <a:xfrm>
            <a:off x="1777350" y="1051575"/>
            <a:ext cx="5589300" cy="181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FFFFFF"/>
                </a:solidFill>
              </a:rPr>
              <a:t>Invariance is the idea that a property is conserved when some transformation is applied. </a:t>
            </a:r>
            <a:endParaRPr sz="1400">
              <a:solidFill>
                <a:srgbClr val="FFFFFF"/>
              </a:solidFill>
            </a:endParaRPr>
          </a:p>
          <a:p>
            <a:pPr indent="0" lvl="0" marL="0" rtl="0" algn="l">
              <a:spcBef>
                <a:spcPts val="1200"/>
              </a:spcBef>
              <a:spcAft>
                <a:spcPts val="1200"/>
              </a:spcAft>
              <a:buNone/>
            </a:pPr>
            <a:r>
              <a:rPr lang="en" sz="1400">
                <a:solidFill>
                  <a:srgbClr val="FFFFFF"/>
                </a:solidFill>
              </a:rPr>
              <a:t>For example, the total energy of an isolated system is conserved. When looking at the universe as a closed system, this remains true. Energy is transformed, not destroyed or created. </a:t>
            </a:r>
            <a:endParaRPr sz="1400">
              <a:solidFill>
                <a:srgbClr val="FFFFFF"/>
              </a:solidFill>
            </a:endParaRPr>
          </a:p>
        </p:txBody>
      </p:sp>
      <p:sp>
        <p:nvSpPr>
          <p:cNvPr id="70" name="Google Shape;70;p15"/>
          <p:cNvSpPr txBox="1"/>
          <p:nvPr/>
        </p:nvSpPr>
        <p:spPr>
          <a:xfrm>
            <a:off x="3059100" y="3183725"/>
            <a:ext cx="59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1"/>
              </a:solidFill>
            </a:endParaRPr>
          </a:p>
        </p:txBody>
      </p:sp>
      <p:pic>
        <p:nvPicPr>
          <p:cNvPr id="71" name="Google Shape;71;p15"/>
          <p:cNvPicPr preferRelativeResize="0"/>
          <p:nvPr/>
        </p:nvPicPr>
        <p:blipFill>
          <a:blip r:embed="rId3">
            <a:alphaModFix/>
          </a:blip>
          <a:stretch>
            <a:fillRect/>
          </a:stretch>
        </p:blipFill>
        <p:spPr>
          <a:xfrm>
            <a:off x="414150" y="3183725"/>
            <a:ext cx="2482463" cy="1654975"/>
          </a:xfrm>
          <a:prstGeom prst="rect">
            <a:avLst/>
          </a:prstGeom>
          <a:noFill/>
          <a:ln>
            <a:noFill/>
          </a:ln>
        </p:spPr>
      </p:pic>
      <p:sp>
        <p:nvSpPr>
          <p:cNvPr id="72" name="Google Shape;72;p15"/>
          <p:cNvSpPr txBox="1"/>
          <p:nvPr/>
        </p:nvSpPr>
        <p:spPr>
          <a:xfrm>
            <a:off x="3134200" y="3272463"/>
            <a:ext cx="5553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rPr>
              <a:t>Take the girl </a:t>
            </a:r>
            <a:r>
              <a:rPr lang="en">
                <a:solidFill>
                  <a:srgbClr val="FFFFFF"/>
                </a:solidFill>
              </a:rPr>
              <a:t>dropping</a:t>
            </a:r>
            <a:r>
              <a:rPr lang="en">
                <a:solidFill>
                  <a:srgbClr val="FFFFFF"/>
                </a:solidFill>
              </a:rPr>
              <a:t> the ball as an example, the law of conservation of energy states that energy can neither be created nor </a:t>
            </a:r>
            <a:r>
              <a:rPr lang="en">
                <a:solidFill>
                  <a:srgbClr val="FFFFFF"/>
                </a:solidFill>
              </a:rPr>
              <a:t>destroyed</a:t>
            </a:r>
            <a:r>
              <a:rPr lang="en">
                <a:solidFill>
                  <a:srgbClr val="FFFFFF"/>
                </a:solidFill>
              </a:rPr>
              <a:t>. As time progresses, the law of conservation of energy remains true. In other words, this law doesn’t vary as time goes on, thus we can say, that the law of conservation of energy is invariant in </a:t>
            </a:r>
            <a:r>
              <a:rPr lang="en">
                <a:solidFill>
                  <a:srgbClr val="FFFFFF"/>
                </a:solidFill>
              </a:rPr>
              <a:t>relation</a:t>
            </a:r>
            <a:r>
              <a:rPr lang="en">
                <a:solidFill>
                  <a:srgbClr val="FFFFFF"/>
                </a:solidFill>
              </a:rPr>
              <a:t> to time.</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What is Envariance?</a:t>
            </a:r>
            <a:r>
              <a:rPr lang="en"/>
              <a:t> </a:t>
            </a:r>
            <a:endParaRPr/>
          </a:p>
        </p:txBody>
      </p:sp>
      <p:sp>
        <p:nvSpPr>
          <p:cNvPr id="78" name="Google Shape;78;p16"/>
          <p:cNvSpPr txBox="1"/>
          <p:nvPr>
            <p:ph idx="1" type="body"/>
          </p:nvPr>
        </p:nvSpPr>
        <p:spPr>
          <a:xfrm>
            <a:off x="276325" y="1166625"/>
            <a:ext cx="85206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solidFill>
                  <a:schemeClr val="lt1"/>
                </a:solidFill>
              </a:rPr>
              <a:t>Envariance is just jargon. Envariance really means “</a:t>
            </a:r>
            <a:r>
              <a:rPr lang="en">
                <a:solidFill>
                  <a:schemeClr val="lt1"/>
                </a:solidFill>
              </a:rPr>
              <a:t>environmentally assisted invariance”. This is the idea that the environment helps conserve the state of something. Like time in our previous example.</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0"/>
              </a:spcAft>
              <a:buNone/>
            </a:pPr>
            <a:r>
              <a:rPr lang="en">
                <a:solidFill>
                  <a:schemeClr val="lt1"/>
                </a:solidFill>
              </a:rPr>
              <a:t>As Wojciech Hubert Zurek in “Environment-Assisted Invariance, Entanglement, and Probabilities in Quantum Physics” puts it</a:t>
            </a:r>
            <a:endParaRPr>
              <a:solidFill>
                <a:schemeClr val="lt1"/>
              </a:solidFill>
            </a:endParaRPr>
          </a:p>
          <a:p>
            <a:pPr indent="0" lvl="0" marL="1143000" marR="1762058" rtl="0" algn="l">
              <a:spcBef>
                <a:spcPts val="1200"/>
              </a:spcBef>
              <a:spcAft>
                <a:spcPts val="0"/>
              </a:spcAft>
              <a:buNone/>
            </a:pPr>
            <a:r>
              <a:rPr lang="en">
                <a:solidFill>
                  <a:schemeClr val="lt1"/>
                </a:solidFill>
              </a:rPr>
              <a:t>“A state of two coins (say, a penny and a cent) would be envariant when the first penny could be flipped, and then the cent ‘‘counterflipped,’’ so that the joint state is restored, i.e., no measurement on the system reveals any difference from the initial state. Pure (perfectly known) quantum states can exhibit this symmetry. </a:t>
            </a:r>
            <a:endParaRPr>
              <a:solidFill>
                <a:schemeClr val="lt1"/>
              </a:solidFill>
            </a:endParaRPr>
          </a:p>
          <a:p>
            <a:pPr indent="0" lvl="0" marL="0" rtl="0" algn="l">
              <a:spcBef>
                <a:spcPts val="1200"/>
              </a:spcBef>
              <a:spcAft>
                <a:spcPts val="1200"/>
              </a:spcAft>
              <a:buNone/>
            </a:pPr>
            <a:r>
              <a:rPr lang="en">
                <a:solidFill>
                  <a:schemeClr val="lt1"/>
                </a:solidFill>
              </a:rPr>
              <a:t>When measuring the result of invariant couples, no difference can be measured in their result. To enable or motivate envariance, a system must be </a:t>
            </a:r>
            <a:r>
              <a:rPr lang="en" u="sng">
                <a:solidFill>
                  <a:schemeClr val="lt1"/>
                </a:solidFill>
              </a:rPr>
              <a:t>entangled </a:t>
            </a:r>
            <a:r>
              <a:rPr lang="en">
                <a:solidFill>
                  <a:schemeClr val="lt1"/>
                </a:solidFill>
              </a:rPr>
              <a:t>in a </a:t>
            </a:r>
            <a:r>
              <a:rPr lang="en" u="sng">
                <a:solidFill>
                  <a:schemeClr val="lt1"/>
                </a:solidFill>
              </a:rPr>
              <a:t>dynamically decoupled environment</a:t>
            </a:r>
            <a:r>
              <a:rPr lang="en">
                <a:solidFill>
                  <a:schemeClr val="lt1"/>
                </a:solidFill>
              </a:rPr>
              <a:t>. </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Dynamic Decoupling</a:t>
            </a:r>
            <a:endParaRPr b="1"/>
          </a:p>
        </p:txBody>
      </p:sp>
      <p:sp>
        <p:nvSpPr>
          <p:cNvPr id="84" name="Google Shape;84;p17"/>
          <p:cNvSpPr txBox="1"/>
          <p:nvPr>
            <p:ph idx="1" type="body"/>
          </p:nvPr>
        </p:nvSpPr>
        <p:spPr>
          <a:xfrm>
            <a:off x="311700" y="101772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rgbClr val="FFFFFF"/>
                </a:solidFill>
              </a:rPr>
              <a:t>We’ve explored multiple ways to reduce decoherence or mitigate the consequences, like repetition coding. One way is dynamic decoupling.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rPr lang="en">
                <a:solidFill>
                  <a:srgbClr val="FFFFFF"/>
                </a:solidFill>
              </a:rPr>
              <a:t>What is Dynamic Decoupling? Dynamic Decoupling reduces the system-environment interaction, which we know causes errors, to 0. It does this by using instantaneous, time oriented, control pulses to modify the environment around it.</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lnSpc>
                <a:spcPct val="150000"/>
              </a:lnSpc>
              <a:spcBef>
                <a:spcPts val="1200"/>
              </a:spcBef>
              <a:spcAft>
                <a:spcPts val="1200"/>
              </a:spcAft>
              <a:buNone/>
            </a:pPr>
            <a:r>
              <a:rPr lang="en">
                <a:solidFill>
                  <a:schemeClr val="lt1"/>
                </a:solidFill>
              </a:rPr>
              <a:t>In the context of quantum, in order for “envariance” to occur, the environment has negligible effects on the state of the qubit, such that the environmental risk of noise must be 0.</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Symmetry and Envariance</a:t>
            </a:r>
            <a:endParaRPr b="1"/>
          </a:p>
        </p:txBody>
      </p:sp>
      <p:sp>
        <p:nvSpPr>
          <p:cNvPr id="90" name="Google Shape;90;p18"/>
          <p:cNvSpPr txBox="1"/>
          <p:nvPr>
            <p:ph idx="1" type="body"/>
          </p:nvPr>
        </p:nvSpPr>
        <p:spPr>
          <a:xfrm>
            <a:off x="926825" y="1117475"/>
            <a:ext cx="7577400" cy="27456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lang="en">
                <a:solidFill>
                  <a:schemeClr val="lt1"/>
                </a:solidFill>
              </a:rPr>
              <a:t>Symmetry</a:t>
            </a:r>
            <a:r>
              <a:rPr lang="en">
                <a:solidFill>
                  <a:schemeClr val="lt1"/>
                </a:solidFill>
              </a:rPr>
              <a:t> in physics is the idea that a </a:t>
            </a:r>
            <a:r>
              <a:rPr lang="en" u="sng">
                <a:solidFill>
                  <a:schemeClr val="lt1"/>
                </a:solidFill>
              </a:rPr>
              <a:t>part </a:t>
            </a:r>
            <a:r>
              <a:rPr lang="en">
                <a:solidFill>
                  <a:schemeClr val="lt1"/>
                </a:solidFill>
              </a:rPr>
              <a:t>of a system remains </a:t>
            </a:r>
            <a:r>
              <a:rPr lang="en" u="sng">
                <a:solidFill>
                  <a:schemeClr val="lt1"/>
                </a:solidFill>
              </a:rPr>
              <a:t>preserved </a:t>
            </a:r>
            <a:r>
              <a:rPr lang="en">
                <a:solidFill>
                  <a:schemeClr val="lt1"/>
                </a:solidFill>
              </a:rPr>
              <a:t>or unchanged in the face of some </a:t>
            </a:r>
            <a:r>
              <a:rPr lang="en" u="sng">
                <a:solidFill>
                  <a:schemeClr val="lt1"/>
                </a:solidFill>
              </a:rPr>
              <a:t>transformation</a:t>
            </a:r>
            <a:r>
              <a:rPr lang="en">
                <a:solidFill>
                  <a:schemeClr val="lt1"/>
                </a:solidFill>
              </a:rPr>
              <a:t>. Take an apple for example, when I take a bite (transformation) out of the entire apple (system), the taste (part of the system) remains the same (preservation). </a:t>
            </a:r>
            <a:endParaRPr>
              <a:solidFill>
                <a:schemeClr val="lt1"/>
              </a:solidFill>
            </a:endParaRPr>
          </a:p>
          <a:p>
            <a:pPr indent="0" lvl="0" marL="0" rtl="0" algn="l">
              <a:lnSpc>
                <a:spcPct val="115000"/>
              </a:lnSpc>
              <a:spcBef>
                <a:spcPts val="1200"/>
              </a:spcBef>
              <a:spcAft>
                <a:spcPts val="0"/>
              </a:spcAft>
              <a:buNone/>
            </a:pPr>
            <a:r>
              <a:t/>
            </a:r>
            <a:endParaRPr>
              <a:solidFill>
                <a:schemeClr val="lt1"/>
              </a:solidFill>
            </a:endParaRPr>
          </a:p>
          <a:p>
            <a:pPr indent="0" lvl="0" marL="0" rtl="0" algn="l">
              <a:lnSpc>
                <a:spcPct val="115000"/>
              </a:lnSpc>
              <a:spcBef>
                <a:spcPts val="1200"/>
              </a:spcBef>
              <a:spcAft>
                <a:spcPts val="1200"/>
              </a:spcAft>
              <a:buNone/>
            </a:pPr>
            <a:r>
              <a:rPr lang="en">
                <a:solidFill>
                  <a:schemeClr val="lt1"/>
                </a:solidFill>
              </a:rPr>
              <a:t>Envariance can be described as quantum symmetry. Where a part of system, weather it be the energy, momentum, or mass of an isolated system can’t be changed due to some </a:t>
            </a:r>
            <a:r>
              <a:rPr lang="en" u="sng">
                <a:solidFill>
                  <a:schemeClr val="lt1"/>
                </a:solidFill>
              </a:rPr>
              <a:t>specific</a:t>
            </a:r>
            <a:r>
              <a:rPr lang="en">
                <a:solidFill>
                  <a:schemeClr val="lt1"/>
                </a:solidFill>
              </a:rPr>
              <a:t> transformation in respect to environment (time, charge, rotations, spatial inversion, or charge conjugation)</a:t>
            </a:r>
            <a:r>
              <a:rPr lang="en">
                <a:solidFill>
                  <a:schemeClr val="lt1"/>
                </a:solidFill>
              </a:rPr>
              <a:t>.</a:t>
            </a:r>
            <a:endParaRPr>
              <a:solidFill>
                <a:schemeClr val="lt1"/>
              </a:solidFill>
            </a:endParaRPr>
          </a:p>
        </p:txBody>
      </p:sp>
      <p:sp>
        <p:nvSpPr>
          <p:cNvPr id="91" name="Google Shape;91;p18"/>
          <p:cNvSpPr txBox="1"/>
          <p:nvPr/>
        </p:nvSpPr>
        <p:spPr>
          <a:xfrm>
            <a:off x="191025" y="4393550"/>
            <a:ext cx="6388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lt1"/>
                </a:solidFill>
              </a:rPr>
              <a:t>See full list of conserved state and their invariance here: </a:t>
            </a:r>
            <a:r>
              <a:rPr i="1" lang="en" sz="1100" u="sng">
                <a:solidFill>
                  <a:schemeClr val="dk1"/>
                </a:solidFill>
                <a:hlinkClick r:id="rId3">
                  <a:extLst>
                    <a:ext uri="{A12FA001-AC4F-418D-AE19-62706E023703}">
                      <ahyp:hlinkClr val="tx"/>
                    </a:ext>
                  </a:extLst>
                </a:hlinkClick>
              </a:rPr>
              <a:t>http://www.cbooth.staff.shef.ac.uk/phy304/invariance.html</a:t>
            </a:r>
            <a:r>
              <a:rPr i="1" lang="en" sz="1100">
                <a:solidFill>
                  <a:schemeClr val="dk1"/>
                </a:solidFill>
              </a:rPr>
              <a:t> </a:t>
            </a:r>
            <a:endParaRPr i="1"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Putting It Together</a:t>
            </a:r>
            <a:endParaRPr b="1"/>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400">
                <a:solidFill>
                  <a:schemeClr val="lt1"/>
                </a:solidFill>
              </a:rPr>
              <a:t>What Were the Objectives? </a:t>
            </a:r>
            <a:endParaRPr sz="1400">
              <a:solidFill>
                <a:schemeClr val="lt1"/>
              </a:solidFill>
            </a:endParaRPr>
          </a:p>
          <a:p>
            <a:pPr indent="-317500" lvl="0" marL="457200" rtl="0" algn="l">
              <a:lnSpc>
                <a:spcPct val="150000"/>
              </a:lnSpc>
              <a:spcBef>
                <a:spcPts val="0"/>
              </a:spcBef>
              <a:spcAft>
                <a:spcPts val="0"/>
              </a:spcAft>
              <a:buClr>
                <a:schemeClr val="lt1"/>
              </a:buClr>
              <a:buSzPts val="1400"/>
              <a:buChar char="●"/>
            </a:pPr>
            <a:r>
              <a:rPr lang="en" sz="1400">
                <a:solidFill>
                  <a:schemeClr val="lt1"/>
                </a:solidFill>
              </a:rPr>
              <a:t>Objective 1: The point of the paper is t</a:t>
            </a:r>
            <a:r>
              <a:rPr lang="en" sz="1400">
                <a:solidFill>
                  <a:schemeClr val="lt1"/>
                </a:solidFill>
              </a:rPr>
              <a:t>o demonstrate envariance through entanglement</a:t>
            </a:r>
            <a:r>
              <a:rPr lang="en" sz="1400">
                <a:solidFill>
                  <a:schemeClr val="lt1"/>
                </a:solidFill>
              </a:rPr>
              <a:t> using IBM quantum experience.</a:t>
            </a:r>
            <a:endParaRPr sz="1400">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Data was collected through the use of IBM Quantum Experience</a:t>
            </a:r>
            <a:endParaRPr>
              <a:solidFill>
                <a:schemeClr val="lt1"/>
              </a:solidFill>
            </a:endParaRPr>
          </a:p>
          <a:p>
            <a:pPr indent="0" lvl="0" marL="914400" rtl="0" algn="l">
              <a:lnSpc>
                <a:spcPct val="150000"/>
              </a:lnSpc>
              <a:spcBef>
                <a:spcPts val="0"/>
              </a:spcBef>
              <a:spcAft>
                <a:spcPts val="0"/>
              </a:spcAft>
              <a:buClr>
                <a:schemeClr val="dk1"/>
              </a:buClr>
              <a:buSzPts val="1100"/>
              <a:buFont typeface="Arial"/>
              <a:buNone/>
            </a:pPr>
            <a:r>
              <a:t/>
            </a:r>
            <a:endParaRPr sz="1400">
              <a:solidFill>
                <a:schemeClr val="lt1"/>
              </a:solidFill>
            </a:endParaRPr>
          </a:p>
          <a:p>
            <a:pPr indent="-317500" lvl="0" marL="457200" rtl="0" algn="l">
              <a:lnSpc>
                <a:spcPct val="150000"/>
              </a:lnSpc>
              <a:spcBef>
                <a:spcPts val="0"/>
              </a:spcBef>
              <a:spcAft>
                <a:spcPts val="0"/>
              </a:spcAft>
              <a:buClr>
                <a:schemeClr val="lt1"/>
              </a:buClr>
              <a:buSzPts val="1400"/>
              <a:buChar char="●"/>
            </a:pPr>
            <a:r>
              <a:rPr lang="en" sz="1400">
                <a:solidFill>
                  <a:schemeClr val="lt1"/>
                </a:solidFill>
              </a:rPr>
              <a:t>Objective 2: To demonstrate envariance in a quantum “universe” with five qubits rather than two. This experiment is meant to precede Quantum Optics’s, “technically challenging”, previous experiments, while demonstrating the usefulness and effectiveness of IBM’s cloud computing software, Quantum Experience.</a:t>
            </a:r>
            <a:endParaRPr sz="1400">
              <a:solidFill>
                <a:schemeClr val="lt1"/>
              </a:solidFill>
            </a:endParaRPr>
          </a:p>
          <a:p>
            <a:pPr indent="0" lvl="0" marL="0" rtl="0" algn="l">
              <a:spcBef>
                <a:spcPts val="0"/>
              </a:spcBef>
              <a:spcAft>
                <a:spcPts val="1200"/>
              </a:spcAft>
              <a:buNone/>
            </a:pPr>
            <a:r>
              <a:t/>
            </a:r>
            <a:endParaRPr sz="14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Experiment</a:t>
            </a:r>
            <a:endParaRPr/>
          </a:p>
        </p:txBody>
      </p:sp>
      <p:sp>
        <p:nvSpPr>
          <p:cNvPr id="103" name="Google Shape;103;p20"/>
          <p:cNvSpPr txBox="1"/>
          <p:nvPr>
            <p:ph idx="1" type="body"/>
          </p:nvPr>
        </p:nvSpPr>
        <p:spPr>
          <a:xfrm>
            <a:off x="485850" y="1017725"/>
            <a:ext cx="8172300" cy="1025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1200"/>
              </a:spcAft>
              <a:buNone/>
            </a:pPr>
            <a:r>
              <a:rPr lang="en">
                <a:solidFill>
                  <a:srgbClr val="FFFFFF"/>
                </a:solidFill>
              </a:rPr>
              <a:t>Five experiments were conducted to demonstrate how today’s current quantum computers can entangle a limited amount of qubits</a:t>
            </a:r>
            <a:endParaRPr>
              <a:solidFill>
                <a:srgbClr val="FFFFFF"/>
              </a:solidFill>
            </a:endParaRPr>
          </a:p>
        </p:txBody>
      </p:sp>
      <p:pic>
        <p:nvPicPr>
          <p:cNvPr id="104" name="Google Shape;104;p20"/>
          <p:cNvPicPr preferRelativeResize="0"/>
          <p:nvPr/>
        </p:nvPicPr>
        <p:blipFill>
          <a:blip r:embed="rId3">
            <a:alphaModFix/>
          </a:blip>
          <a:stretch>
            <a:fillRect/>
          </a:stretch>
        </p:blipFill>
        <p:spPr>
          <a:xfrm>
            <a:off x="1520275" y="1933150"/>
            <a:ext cx="6103450" cy="1669950"/>
          </a:xfrm>
          <a:prstGeom prst="rect">
            <a:avLst/>
          </a:prstGeom>
          <a:noFill/>
          <a:ln>
            <a:noFill/>
          </a:ln>
        </p:spPr>
      </p:pic>
      <p:sp>
        <p:nvSpPr>
          <p:cNvPr id="105" name="Google Shape;105;p20"/>
          <p:cNvSpPr txBox="1"/>
          <p:nvPr/>
        </p:nvSpPr>
        <p:spPr>
          <a:xfrm>
            <a:off x="901800" y="3818350"/>
            <a:ext cx="7340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FFFF"/>
                </a:solidFill>
              </a:rPr>
              <a:t>Through the use of the CNOT gate and this new idea of envariance, or quantum symmetry, we can develop quantum algorithms to entangle multiple qubits. The picture above shows just one way to achieve this.</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qubits to the algorithm</a:t>
            </a:r>
            <a:endParaRPr/>
          </a:p>
        </p:txBody>
      </p:sp>
      <p:sp>
        <p:nvSpPr>
          <p:cNvPr id="111" name="Google Shape;111;p21"/>
          <p:cNvSpPr txBox="1"/>
          <p:nvPr>
            <p:ph idx="1" type="body"/>
          </p:nvPr>
        </p:nvSpPr>
        <p:spPr>
          <a:xfrm>
            <a:off x="2344150" y="1664225"/>
            <a:ext cx="1809000" cy="3105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1200"/>
              </a:spcAft>
              <a:buNone/>
            </a:pPr>
            <a:r>
              <a:t/>
            </a:r>
            <a:endParaRPr/>
          </a:p>
        </p:txBody>
      </p:sp>
      <p:pic>
        <p:nvPicPr>
          <p:cNvPr id="112" name="Google Shape;112;p21"/>
          <p:cNvPicPr preferRelativeResize="0"/>
          <p:nvPr/>
        </p:nvPicPr>
        <p:blipFill>
          <a:blip r:embed="rId3">
            <a:alphaModFix/>
          </a:blip>
          <a:stretch>
            <a:fillRect/>
          </a:stretch>
        </p:blipFill>
        <p:spPr>
          <a:xfrm>
            <a:off x="152400" y="1093925"/>
            <a:ext cx="3953600" cy="1433725"/>
          </a:xfrm>
          <a:prstGeom prst="rect">
            <a:avLst/>
          </a:prstGeom>
          <a:noFill/>
          <a:ln>
            <a:noFill/>
          </a:ln>
        </p:spPr>
      </p:pic>
      <p:pic>
        <p:nvPicPr>
          <p:cNvPr id="113" name="Google Shape;113;p21"/>
          <p:cNvPicPr preferRelativeResize="0"/>
          <p:nvPr/>
        </p:nvPicPr>
        <p:blipFill>
          <a:blip r:embed="rId4">
            <a:alphaModFix/>
          </a:blip>
          <a:stretch>
            <a:fillRect/>
          </a:stretch>
        </p:blipFill>
        <p:spPr>
          <a:xfrm>
            <a:off x="152400" y="2603850"/>
            <a:ext cx="5655429" cy="2387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168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a:t>
            </a:r>
            <a:endParaRPr/>
          </a:p>
          <a:p>
            <a:pPr indent="0" lvl="0" marL="0" rtl="0" algn="l">
              <a:spcBef>
                <a:spcPts val="0"/>
              </a:spcBef>
              <a:spcAft>
                <a:spcPts val="0"/>
              </a:spcAft>
              <a:buNone/>
            </a:pPr>
            <a:r>
              <a:t/>
            </a:r>
            <a:endParaRPr/>
          </a:p>
        </p:txBody>
      </p:sp>
      <p:sp>
        <p:nvSpPr>
          <p:cNvPr id="119" name="Google Shape;119;p22"/>
          <p:cNvSpPr txBox="1"/>
          <p:nvPr>
            <p:ph idx="1" type="body"/>
          </p:nvPr>
        </p:nvSpPr>
        <p:spPr>
          <a:xfrm>
            <a:off x="311700" y="7410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FFFFF"/>
                </a:solidFill>
              </a:rPr>
              <a:t>The second qubit is more likely to “follow” along with the first qubit rather than “derailing” to the opposite state (no matter if it's in the initial or the “flipped” state) when entangled.</a:t>
            </a:r>
            <a:endParaRPr>
              <a:solidFill>
                <a:srgbClr val="FFFFFF"/>
              </a:solidFill>
            </a:endParaRPr>
          </a:p>
          <a:p>
            <a:pPr indent="0" lvl="0" marL="0" rtl="0" algn="l">
              <a:spcBef>
                <a:spcPts val="1200"/>
              </a:spcBef>
              <a:spcAft>
                <a:spcPts val="0"/>
              </a:spcAft>
              <a:buNone/>
            </a:pPr>
            <a:r>
              <a:rPr lang="en">
                <a:solidFill>
                  <a:srgbClr val="FFFFFF"/>
                </a:solidFill>
              </a:rPr>
              <a:t>Will most of the time result in a double down |00&gt; or a double up |11&gt; rather than a mixture of opposite states ( |01&gt; or |10&gt;) when measured.</a:t>
            </a:r>
            <a:endParaRPr>
              <a:solidFill>
                <a:srgbClr val="FFFFFF"/>
              </a:solidFill>
            </a:endParaRPr>
          </a:p>
          <a:p>
            <a:pPr indent="0" lvl="0" marL="0" rtl="0" algn="l">
              <a:spcBef>
                <a:spcPts val="1200"/>
              </a:spcBef>
              <a:spcAft>
                <a:spcPts val="1200"/>
              </a:spcAft>
              <a:buNone/>
            </a:pPr>
            <a:r>
              <a:rPr lang="en">
                <a:solidFill>
                  <a:srgbClr val="FFFFFF"/>
                </a:solidFill>
              </a:rPr>
              <a:t>  </a:t>
            </a:r>
            <a:endParaRPr>
              <a:solidFill>
                <a:srgbClr val="FFFFFF"/>
              </a:solidFill>
            </a:endParaRPr>
          </a:p>
        </p:txBody>
      </p:sp>
      <p:pic>
        <p:nvPicPr>
          <p:cNvPr id="120" name="Google Shape;120;p22"/>
          <p:cNvPicPr preferRelativeResize="0"/>
          <p:nvPr/>
        </p:nvPicPr>
        <p:blipFill>
          <a:blip r:embed="rId3">
            <a:alphaModFix/>
          </a:blip>
          <a:stretch>
            <a:fillRect/>
          </a:stretch>
        </p:blipFill>
        <p:spPr>
          <a:xfrm>
            <a:off x="427775" y="2571750"/>
            <a:ext cx="7962900" cy="238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168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a:t>
            </a:r>
            <a:endParaRPr/>
          </a:p>
          <a:p>
            <a:pPr indent="0" lvl="0" marL="0" rtl="0" algn="l">
              <a:spcBef>
                <a:spcPts val="0"/>
              </a:spcBef>
              <a:spcAft>
                <a:spcPts val="0"/>
              </a:spcAft>
              <a:buNone/>
            </a:pPr>
            <a:r>
              <a:t/>
            </a:r>
            <a:endParaRPr/>
          </a:p>
        </p:txBody>
      </p:sp>
      <p:sp>
        <p:nvSpPr>
          <p:cNvPr id="126" name="Google Shape;126;p23"/>
          <p:cNvSpPr txBox="1"/>
          <p:nvPr>
            <p:ph idx="1" type="body"/>
          </p:nvPr>
        </p:nvSpPr>
        <p:spPr>
          <a:xfrm>
            <a:off x="311700" y="7410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FFFFF"/>
                </a:solidFill>
              </a:rPr>
              <a:t>When both qubits are “flipped” they are less likely to go back to their initial states when measured and are more likely to both stay on the “flipped” state because their states align with each other.</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en"/>
              <a:t>  </a:t>
            </a:r>
            <a:endParaRPr/>
          </a:p>
        </p:txBody>
      </p:sp>
      <p:pic>
        <p:nvPicPr>
          <p:cNvPr id="127" name="Google Shape;127;p23"/>
          <p:cNvPicPr preferRelativeResize="0"/>
          <p:nvPr/>
        </p:nvPicPr>
        <p:blipFill>
          <a:blip r:embed="rId3">
            <a:alphaModFix/>
          </a:blip>
          <a:stretch>
            <a:fillRect/>
          </a:stretch>
        </p:blipFill>
        <p:spPr>
          <a:xfrm>
            <a:off x="545263" y="2380125"/>
            <a:ext cx="7858125" cy="196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168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a:t>
            </a:r>
            <a:endParaRPr/>
          </a:p>
          <a:p>
            <a:pPr indent="0" lvl="0" marL="0" rtl="0" algn="l">
              <a:spcBef>
                <a:spcPts val="0"/>
              </a:spcBef>
              <a:spcAft>
                <a:spcPts val="0"/>
              </a:spcAft>
              <a:buNone/>
            </a:pPr>
            <a:r>
              <a:t/>
            </a:r>
            <a:endParaRPr/>
          </a:p>
        </p:txBody>
      </p:sp>
      <p:sp>
        <p:nvSpPr>
          <p:cNvPr id="133" name="Google Shape;133;p24"/>
          <p:cNvSpPr txBox="1"/>
          <p:nvPr>
            <p:ph idx="1" type="body"/>
          </p:nvPr>
        </p:nvSpPr>
        <p:spPr>
          <a:xfrm>
            <a:off x="311700" y="6921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FFFFFF"/>
                </a:solidFill>
              </a:rPr>
              <a:t>This pattern of aligned entangled qubit states eventually stops once the </a:t>
            </a:r>
            <a:r>
              <a:rPr lang="en" sz="1600">
                <a:solidFill>
                  <a:srgbClr val="FFFFFF"/>
                </a:solidFill>
              </a:rPr>
              <a:t>testing</a:t>
            </a:r>
            <a:r>
              <a:rPr lang="en" sz="1600">
                <a:solidFill>
                  <a:srgbClr val="FFFFFF"/>
                </a:solidFill>
              </a:rPr>
              <a:t> of 5 entangled qubits have been reached. </a:t>
            </a:r>
            <a:endParaRPr sz="1600">
              <a:solidFill>
                <a:srgbClr val="FFFFFF"/>
              </a:solidFill>
            </a:endParaRPr>
          </a:p>
          <a:p>
            <a:pPr indent="0" lvl="0" marL="0" rtl="0" algn="l">
              <a:spcBef>
                <a:spcPts val="1200"/>
              </a:spcBef>
              <a:spcAft>
                <a:spcPts val="0"/>
              </a:spcAft>
              <a:buNone/>
            </a:pPr>
            <a:r>
              <a:rPr lang="en" sz="1600">
                <a:solidFill>
                  <a:srgbClr val="FFFFFF"/>
                </a:solidFill>
              </a:rPr>
              <a:t>This could have been the result of decoherence.</a:t>
            </a:r>
            <a:endParaRPr sz="1600">
              <a:solidFill>
                <a:srgbClr val="FFFFFF"/>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pic>
        <p:nvPicPr>
          <p:cNvPr id="134" name="Google Shape;134;p24"/>
          <p:cNvPicPr preferRelativeResize="0"/>
          <p:nvPr/>
        </p:nvPicPr>
        <p:blipFill>
          <a:blip r:embed="rId3">
            <a:alphaModFix/>
          </a:blip>
          <a:stretch>
            <a:fillRect/>
          </a:stretch>
        </p:blipFill>
        <p:spPr>
          <a:xfrm>
            <a:off x="552213" y="2078313"/>
            <a:ext cx="7762875" cy="2809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283400" y="155650"/>
            <a:ext cx="8520600" cy="62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Significance</a:t>
            </a:r>
            <a:endParaRPr/>
          </a:p>
        </p:txBody>
      </p:sp>
      <p:sp>
        <p:nvSpPr>
          <p:cNvPr id="140" name="Google Shape;140;p25"/>
          <p:cNvSpPr txBox="1"/>
          <p:nvPr>
            <p:ph idx="1" type="body"/>
          </p:nvPr>
        </p:nvSpPr>
        <p:spPr>
          <a:xfrm>
            <a:off x="311700" y="784150"/>
            <a:ext cx="8730000" cy="4182600"/>
          </a:xfrm>
          <a:prstGeom prst="rect">
            <a:avLst/>
          </a:prstGeom>
        </p:spPr>
        <p:txBody>
          <a:bodyPr anchorCtr="0" anchor="t" bIns="91425" lIns="91425" spcFirstLastPara="1" rIns="91425" wrap="square" tIns="91425">
            <a:normAutofit fontScale="55000" lnSpcReduction="10000"/>
          </a:bodyPr>
          <a:lstStyle/>
          <a:p>
            <a:pPr indent="-350837" lvl="0" marL="457200" rtl="0" algn="l">
              <a:lnSpc>
                <a:spcPct val="115000"/>
              </a:lnSpc>
              <a:spcBef>
                <a:spcPts val="0"/>
              </a:spcBef>
              <a:spcAft>
                <a:spcPts val="0"/>
              </a:spcAft>
              <a:buClr>
                <a:schemeClr val="lt1"/>
              </a:buClr>
              <a:buSzPct val="111594"/>
              <a:buChar char="●"/>
            </a:pPr>
            <a:r>
              <a:rPr lang="en" sz="3136">
                <a:solidFill>
                  <a:schemeClr val="lt1"/>
                </a:solidFill>
              </a:rPr>
              <a:t>T</a:t>
            </a:r>
            <a:r>
              <a:rPr lang="en" sz="3136">
                <a:solidFill>
                  <a:schemeClr val="lt1"/>
                </a:solidFill>
              </a:rPr>
              <a:t>his research sheds light on to entanglement and evariance.</a:t>
            </a:r>
            <a:r>
              <a:rPr lang="en" sz="3500">
                <a:solidFill>
                  <a:schemeClr val="lt1"/>
                </a:solidFill>
              </a:rPr>
              <a:t> </a:t>
            </a:r>
            <a:endParaRPr sz="3500">
              <a:solidFill>
                <a:schemeClr val="lt1"/>
              </a:solidFill>
            </a:endParaRPr>
          </a:p>
          <a:p>
            <a:pPr indent="-316079" lvl="1" marL="914400" rtl="0" algn="l">
              <a:lnSpc>
                <a:spcPct val="115000"/>
              </a:lnSpc>
              <a:spcBef>
                <a:spcPts val="0"/>
              </a:spcBef>
              <a:spcAft>
                <a:spcPts val="0"/>
              </a:spcAft>
              <a:buClr>
                <a:schemeClr val="lt1"/>
              </a:buClr>
              <a:buSzPct val="100000"/>
              <a:buChar char="○"/>
            </a:pPr>
            <a:r>
              <a:rPr lang="en" sz="2504">
                <a:solidFill>
                  <a:schemeClr val="lt1"/>
                </a:solidFill>
              </a:rPr>
              <a:t>These two properties are necessary for quantum advantage and computation, but are not yet completely understood and cannot be usefully implemented.</a:t>
            </a:r>
            <a:endParaRPr sz="2504">
              <a:solidFill>
                <a:schemeClr val="lt1"/>
              </a:solidFill>
            </a:endParaRPr>
          </a:p>
          <a:p>
            <a:pPr indent="0" lvl="0" marL="914400" rtl="0" algn="l">
              <a:lnSpc>
                <a:spcPct val="115000"/>
              </a:lnSpc>
              <a:spcBef>
                <a:spcPts val="1200"/>
              </a:spcBef>
              <a:spcAft>
                <a:spcPts val="0"/>
              </a:spcAft>
              <a:buNone/>
            </a:pPr>
            <a:r>
              <a:t/>
            </a:r>
            <a:endParaRPr sz="1650">
              <a:solidFill>
                <a:schemeClr val="lt1"/>
              </a:solidFill>
            </a:endParaRPr>
          </a:p>
          <a:p>
            <a:pPr indent="-338137" lvl="0" marL="457200" rtl="0" algn="l">
              <a:lnSpc>
                <a:spcPct val="115000"/>
              </a:lnSpc>
              <a:spcBef>
                <a:spcPts val="1200"/>
              </a:spcBef>
              <a:spcAft>
                <a:spcPts val="0"/>
              </a:spcAft>
              <a:buClr>
                <a:schemeClr val="lt1"/>
              </a:buClr>
              <a:buSzPct val="100000"/>
              <a:buChar char="●"/>
            </a:pPr>
            <a:r>
              <a:rPr lang="en" sz="3136">
                <a:solidFill>
                  <a:schemeClr val="lt1"/>
                </a:solidFill>
              </a:rPr>
              <a:t>The experiment produces a basic algorithm for entanglement which can be improved upon and used for further research.</a:t>
            </a:r>
            <a:endParaRPr sz="3136">
              <a:solidFill>
                <a:schemeClr val="lt1"/>
              </a:solidFill>
            </a:endParaRPr>
          </a:p>
          <a:p>
            <a:pPr indent="0" lvl="0" marL="457200" rtl="0" algn="l">
              <a:lnSpc>
                <a:spcPct val="115000"/>
              </a:lnSpc>
              <a:spcBef>
                <a:spcPts val="1200"/>
              </a:spcBef>
              <a:spcAft>
                <a:spcPts val="0"/>
              </a:spcAft>
              <a:buNone/>
            </a:pPr>
            <a:r>
              <a:t/>
            </a:r>
            <a:endParaRPr sz="100">
              <a:solidFill>
                <a:schemeClr val="lt1"/>
              </a:solidFill>
            </a:endParaRPr>
          </a:p>
          <a:p>
            <a:pPr indent="-338137" lvl="0" marL="457200" rtl="0" algn="l">
              <a:lnSpc>
                <a:spcPct val="115000"/>
              </a:lnSpc>
              <a:spcBef>
                <a:spcPts val="1200"/>
              </a:spcBef>
              <a:spcAft>
                <a:spcPts val="0"/>
              </a:spcAft>
              <a:buClr>
                <a:schemeClr val="lt1"/>
              </a:buClr>
              <a:buSzPct val="100000"/>
              <a:buChar char="●"/>
            </a:pPr>
            <a:r>
              <a:rPr lang="en" sz="3136">
                <a:solidFill>
                  <a:schemeClr val="lt1"/>
                </a:solidFill>
              </a:rPr>
              <a:t>The limit of 5 qubits in this experiment shows the limitations of our current quantum computers. </a:t>
            </a:r>
            <a:endParaRPr sz="3136">
              <a:solidFill>
                <a:schemeClr val="lt1"/>
              </a:solidFill>
            </a:endParaRPr>
          </a:p>
          <a:p>
            <a:pPr indent="-313689" lvl="1" marL="914400" rtl="0" algn="l">
              <a:lnSpc>
                <a:spcPct val="115000"/>
              </a:lnSpc>
              <a:spcBef>
                <a:spcPts val="0"/>
              </a:spcBef>
              <a:spcAft>
                <a:spcPts val="0"/>
              </a:spcAft>
              <a:buClr>
                <a:schemeClr val="lt1"/>
              </a:buClr>
              <a:buSzPct val="100000"/>
              <a:buChar char="○"/>
            </a:pPr>
            <a:r>
              <a:rPr lang="en" sz="2436">
                <a:solidFill>
                  <a:schemeClr val="lt1"/>
                </a:solidFill>
              </a:rPr>
              <a:t>Because of this limitation, real quantum advantage still cannot be achieved.</a:t>
            </a:r>
            <a:endParaRPr sz="2436">
              <a:solidFill>
                <a:schemeClr val="lt1"/>
              </a:solidFill>
            </a:endParaRPr>
          </a:p>
          <a:p>
            <a:pPr indent="0" lvl="0" marL="914400" rtl="0" algn="l">
              <a:lnSpc>
                <a:spcPct val="115000"/>
              </a:lnSpc>
              <a:spcBef>
                <a:spcPts val="1200"/>
              </a:spcBef>
              <a:spcAft>
                <a:spcPts val="0"/>
              </a:spcAft>
              <a:buNone/>
            </a:pPr>
            <a:r>
              <a:t/>
            </a:r>
            <a:endParaRPr sz="1184">
              <a:solidFill>
                <a:schemeClr val="lt1"/>
              </a:solidFill>
            </a:endParaRPr>
          </a:p>
          <a:p>
            <a:pPr indent="-338137" lvl="0" marL="457200" rtl="0" algn="l">
              <a:lnSpc>
                <a:spcPct val="115000"/>
              </a:lnSpc>
              <a:spcBef>
                <a:spcPts val="1200"/>
              </a:spcBef>
              <a:spcAft>
                <a:spcPts val="0"/>
              </a:spcAft>
              <a:buClr>
                <a:schemeClr val="lt1"/>
              </a:buClr>
              <a:buSzPct val="100000"/>
              <a:buChar char="●"/>
            </a:pPr>
            <a:r>
              <a:rPr lang="en" sz="3136">
                <a:solidFill>
                  <a:schemeClr val="lt1"/>
                </a:solidFill>
              </a:rPr>
              <a:t>This type of research and results could determine if IBM’s Quantum Experience is used in further research and work given its accuracy.</a:t>
            </a:r>
            <a:endParaRPr sz="3136">
              <a:solidFill>
                <a:schemeClr val="lt1"/>
              </a:solidFill>
            </a:endParaRPr>
          </a:p>
          <a:p>
            <a:pPr indent="0" lvl="0" marL="0" rtl="0" algn="l">
              <a:spcBef>
                <a:spcPts val="0"/>
              </a:spcBef>
              <a:spcAft>
                <a:spcPts val="1200"/>
              </a:spcAft>
              <a:buNone/>
            </a:pPr>
            <a:r>
              <a:t/>
            </a:r>
            <a:endParaRPr sz="1436">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40000" y="2752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2220"/>
              <a:t>Downsides To This Experiment</a:t>
            </a:r>
            <a:endParaRPr b="1" sz="2220"/>
          </a:p>
        </p:txBody>
      </p:sp>
      <p:sp>
        <p:nvSpPr>
          <p:cNvPr id="146" name="Google Shape;146;p26"/>
          <p:cNvSpPr txBox="1"/>
          <p:nvPr>
            <p:ph idx="1" type="body"/>
          </p:nvPr>
        </p:nvSpPr>
        <p:spPr>
          <a:xfrm>
            <a:off x="344850" y="805475"/>
            <a:ext cx="8454300" cy="4047900"/>
          </a:xfrm>
          <a:prstGeom prst="rect">
            <a:avLst/>
          </a:prstGeom>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lang="en" sz="1400">
                <a:solidFill>
                  <a:schemeClr val="lt1"/>
                </a:solidFill>
              </a:rPr>
              <a:t>Quality of the experimental outcome still lacks behind technically more challenging experiments in </a:t>
            </a:r>
            <a:r>
              <a:rPr lang="en" sz="1400" u="sng">
                <a:solidFill>
                  <a:schemeClr val="lt1"/>
                </a:solidFill>
                <a:hlinkClick r:id="rId3">
                  <a:extLst>
                    <a:ext uri="{A12FA001-AC4F-418D-AE19-62706E023703}">
                      <ahyp:hlinkClr val="tx"/>
                    </a:ext>
                  </a:extLst>
                </a:hlinkClick>
              </a:rPr>
              <a:t>quantum optics</a:t>
            </a:r>
            <a:r>
              <a:rPr lang="en" sz="1400">
                <a:solidFill>
                  <a:schemeClr val="lt1"/>
                </a:solidFill>
              </a:rPr>
              <a:t>. Despite having more </a:t>
            </a:r>
            <a:r>
              <a:rPr lang="en" sz="1400">
                <a:solidFill>
                  <a:schemeClr val="lt1"/>
                </a:solidFill>
              </a:rPr>
              <a:t>qubits</a:t>
            </a:r>
            <a:r>
              <a:rPr lang="en" sz="1400">
                <a:solidFill>
                  <a:schemeClr val="lt1"/>
                </a:solidFill>
              </a:rPr>
              <a:t> </a:t>
            </a:r>
            <a:r>
              <a:rPr lang="en" sz="1400">
                <a:solidFill>
                  <a:schemeClr val="lt1"/>
                </a:solidFill>
              </a:rPr>
              <a:t>available</a:t>
            </a:r>
            <a:r>
              <a:rPr lang="en" sz="1400">
                <a:solidFill>
                  <a:schemeClr val="lt1"/>
                </a:solidFill>
              </a:rPr>
              <a:t> over the cloud, Quantum Optics researchers achieved Bhattacharya </a:t>
            </a:r>
            <a:r>
              <a:rPr lang="en" sz="1400">
                <a:solidFill>
                  <a:schemeClr val="lt1"/>
                </a:solidFill>
              </a:rPr>
              <a:t>coefficients</a:t>
            </a:r>
            <a:r>
              <a:rPr lang="en" sz="1400">
                <a:solidFill>
                  <a:schemeClr val="lt1"/>
                </a:solidFill>
              </a:rPr>
              <a:t> (which measures the overlap of two samples, and subsequently the accuracy) of 99%, while Deffner, the author, only achieved 96%.</a:t>
            </a:r>
            <a:endParaRPr sz="1400">
              <a:solidFill>
                <a:schemeClr val="lt1"/>
              </a:solidFill>
            </a:endParaRPr>
          </a:p>
          <a:p>
            <a:pPr indent="0" lvl="0" marL="457200" rtl="0" algn="l">
              <a:lnSpc>
                <a:spcPct val="140000"/>
              </a:lnSpc>
              <a:spcBef>
                <a:spcPts val="0"/>
              </a:spcBef>
              <a:spcAft>
                <a:spcPts val="0"/>
              </a:spcAft>
              <a:buClr>
                <a:schemeClr val="dk1"/>
              </a:buClr>
              <a:buSzPts val="1100"/>
              <a:buFont typeface="Arial"/>
              <a:buNone/>
            </a:pPr>
            <a:r>
              <a:t/>
            </a:r>
            <a:endParaRPr sz="1400">
              <a:solidFill>
                <a:schemeClr val="lt1"/>
              </a:solidFill>
            </a:endParaRPr>
          </a:p>
          <a:p>
            <a:pPr indent="-317500" lvl="0" marL="457200" rtl="0" algn="l">
              <a:lnSpc>
                <a:spcPct val="140000"/>
              </a:lnSpc>
              <a:spcBef>
                <a:spcPts val="0"/>
              </a:spcBef>
              <a:spcAft>
                <a:spcPts val="0"/>
              </a:spcAft>
              <a:buClr>
                <a:schemeClr val="lt1"/>
              </a:buClr>
              <a:buSzPts val="1400"/>
              <a:buChar char="●"/>
            </a:pPr>
            <a:r>
              <a:rPr lang="en" sz="1400">
                <a:solidFill>
                  <a:schemeClr val="lt1"/>
                </a:solidFill>
              </a:rPr>
              <a:t>According to Deffner “Without direct access to and </a:t>
            </a:r>
            <a:r>
              <a:rPr lang="en" sz="1400" u="sng">
                <a:solidFill>
                  <a:schemeClr val="lt1"/>
                </a:solidFill>
                <a:hlinkClick r:id="rId4">
                  <a:extLst>
                    <a:ext uri="{A12FA001-AC4F-418D-AE19-62706E023703}">
                      <ahyp:hlinkClr val="tx"/>
                    </a:ext>
                  </a:extLst>
                </a:hlinkClick>
              </a:rPr>
              <a:t>benchmarking</a:t>
            </a:r>
            <a:r>
              <a:rPr lang="en" sz="1400">
                <a:solidFill>
                  <a:schemeClr val="lt1"/>
                </a:solidFill>
              </a:rPr>
              <a:t> of the experimental systems, experimentation is hardly feasible”.</a:t>
            </a:r>
            <a:endParaRPr sz="1400">
              <a:solidFill>
                <a:schemeClr val="lt1"/>
              </a:solidFill>
            </a:endParaRPr>
          </a:p>
          <a:p>
            <a:pPr indent="0" lvl="0" marL="457200" rtl="0" algn="l">
              <a:lnSpc>
                <a:spcPct val="140000"/>
              </a:lnSpc>
              <a:spcBef>
                <a:spcPts val="0"/>
              </a:spcBef>
              <a:spcAft>
                <a:spcPts val="0"/>
              </a:spcAft>
              <a:buClr>
                <a:schemeClr val="dk1"/>
              </a:buClr>
              <a:buSzPts val="1100"/>
              <a:buFont typeface="Arial"/>
              <a:buNone/>
            </a:pPr>
            <a:r>
              <a:t/>
            </a:r>
            <a:endParaRPr sz="1400">
              <a:solidFill>
                <a:schemeClr val="lt1"/>
              </a:solidFill>
            </a:endParaRPr>
          </a:p>
          <a:p>
            <a:pPr indent="-317500" lvl="0" marL="457200" rtl="0" algn="l">
              <a:lnSpc>
                <a:spcPct val="140000"/>
              </a:lnSpc>
              <a:spcBef>
                <a:spcPts val="0"/>
              </a:spcBef>
              <a:spcAft>
                <a:spcPts val="0"/>
              </a:spcAft>
              <a:buClr>
                <a:schemeClr val="lt1"/>
              </a:buClr>
              <a:buSzPts val="1400"/>
              <a:buChar char="●"/>
            </a:pPr>
            <a:r>
              <a:rPr lang="en" sz="1400">
                <a:solidFill>
                  <a:schemeClr val="lt1"/>
                </a:solidFill>
              </a:rPr>
              <a:t>Only </a:t>
            </a:r>
            <a:r>
              <a:rPr lang="en" sz="1400" u="sng">
                <a:solidFill>
                  <a:schemeClr val="lt1"/>
                </a:solidFill>
                <a:hlinkClick r:id="rId5">
                  <a:extLst>
                    <a:ext uri="{A12FA001-AC4F-418D-AE19-62706E023703}">
                      <ahyp:hlinkClr val="tx"/>
                    </a:ext>
                  </a:extLst>
                </a:hlinkClick>
              </a:rPr>
              <a:t>projective measurements</a:t>
            </a:r>
            <a:r>
              <a:rPr lang="en" sz="1400">
                <a:solidFill>
                  <a:schemeClr val="lt1"/>
                </a:solidFill>
              </a:rPr>
              <a:t> of the single qubit states in </a:t>
            </a:r>
            <a:r>
              <a:rPr i="1" lang="en" sz="1400">
                <a:solidFill>
                  <a:schemeClr val="lt1"/>
                </a:solidFill>
              </a:rPr>
              <a:t>z</a:t>
            </a:r>
            <a:r>
              <a:rPr lang="en" sz="1400">
                <a:solidFill>
                  <a:schemeClr val="lt1"/>
                </a:solidFill>
              </a:rPr>
              <a:t>-direction qubits can be performed, i.e., it can be measured whether the single qubits are in |↑〉or |↓〉. No quantum </a:t>
            </a:r>
            <a:r>
              <a:rPr lang="en" sz="1400" u="sng">
                <a:solidFill>
                  <a:schemeClr val="lt1"/>
                </a:solidFill>
                <a:hlinkClick r:id="rId6">
                  <a:extLst>
                    <a:ext uri="{A12FA001-AC4F-418D-AE19-62706E023703}">
                      <ahyp:hlinkClr val="tx"/>
                    </a:ext>
                  </a:extLst>
                </a:hlinkClick>
              </a:rPr>
              <a:t>tomography</a:t>
            </a:r>
            <a:r>
              <a:rPr lang="en" sz="1400">
                <a:solidFill>
                  <a:schemeClr val="lt1"/>
                </a:solidFill>
              </a:rPr>
              <a:t> (</a:t>
            </a:r>
            <a:r>
              <a:rPr lang="en" sz="1400">
                <a:solidFill>
                  <a:schemeClr val="lt1"/>
                </a:solidFill>
                <a:latin typeface="Roboto"/>
                <a:ea typeface="Roboto"/>
                <a:cs typeface="Roboto"/>
                <a:sym typeface="Roboto"/>
              </a:rPr>
              <a:t>a method of producing a three-dimensional image of the internal structures of a solid object</a:t>
            </a:r>
            <a:r>
              <a:rPr lang="en" sz="1400">
                <a:solidFill>
                  <a:schemeClr val="lt1"/>
                </a:solidFill>
              </a:rPr>
              <a:t>) for the joint state is available, which means that no </a:t>
            </a:r>
            <a:r>
              <a:rPr i="1" lang="en" sz="1400">
                <a:solidFill>
                  <a:schemeClr val="lt1"/>
                </a:solidFill>
              </a:rPr>
              <a:t>direct</a:t>
            </a:r>
            <a:r>
              <a:rPr lang="en" sz="1400">
                <a:solidFill>
                  <a:schemeClr val="lt1"/>
                </a:solidFill>
              </a:rPr>
              <a:t> measurements of correlations between qubits can be performed.</a:t>
            </a:r>
            <a:endParaRPr sz="1400">
              <a:solidFill>
                <a:schemeClr val="lt1"/>
              </a:solidFill>
            </a:endParaRPr>
          </a:p>
          <a:p>
            <a:pPr indent="0" lvl="0" marL="0" rtl="0" algn="l">
              <a:lnSpc>
                <a:spcPct val="105000"/>
              </a:lnSpc>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References</a:t>
            </a:r>
            <a:endParaRPr b="1"/>
          </a:p>
        </p:txBody>
      </p:sp>
      <p:sp>
        <p:nvSpPr>
          <p:cNvPr id="152" name="Google Shape;15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400">
                <a:solidFill>
                  <a:schemeClr val="lt1"/>
                </a:solidFill>
              </a:rPr>
              <a:t>[</a:t>
            </a:r>
            <a:r>
              <a:rPr lang="en" sz="1200">
                <a:solidFill>
                  <a:schemeClr val="lt1"/>
                </a:solidFill>
              </a:rPr>
              <a:t>1]</a:t>
            </a:r>
            <a:r>
              <a:rPr lang="en" sz="1400">
                <a:solidFill>
                  <a:schemeClr val="lt1"/>
                </a:solidFill>
              </a:rPr>
              <a:t> </a:t>
            </a:r>
            <a:r>
              <a:rPr lang="en" sz="1200">
                <a:solidFill>
                  <a:schemeClr val="lt1"/>
                </a:solidFill>
                <a:uFill>
                  <a:noFill/>
                </a:uFill>
                <a:hlinkClick r:id="rId3">
                  <a:extLst>
                    <a:ext uri="{A12FA001-AC4F-418D-AE19-62706E023703}">
                      <ahyp:hlinkClr val="tx"/>
                    </a:ext>
                  </a:extLst>
                </a:hlinkClick>
              </a:rPr>
              <a:t>Invariance Principles and Conservation Laws</a:t>
            </a:r>
            <a:endParaRPr sz="1200">
              <a:solidFill>
                <a:schemeClr val="lt1"/>
              </a:solidFill>
            </a:endParaRPr>
          </a:p>
          <a:p>
            <a:pPr indent="0" lvl="0" marL="0" rtl="0" algn="l">
              <a:lnSpc>
                <a:spcPct val="100000"/>
              </a:lnSpc>
              <a:spcBef>
                <a:spcPts val="1200"/>
              </a:spcBef>
              <a:spcAft>
                <a:spcPts val="0"/>
              </a:spcAft>
              <a:buNone/>
            </a:pPr>
            <a:r>
              <a:rPr lang="en" sz="1200">
                <a:solidFill>
                  <a:schemeClr val="lt1"/>
                </a:solidFill>
              </a:rPr>
              <a:t>[2] </a:t>
            </a:r>
            <a:r>
              <a:rPr lang="en" sz="1200">
                <a:solidFill>
                  <a:schemeClr val="lt1"/>
                </a:solidFill>
                <a:uFill>
                  <a:noFill/>
                </a:uFill>
                <a:hlinkClick r:id="rId4">
                  <a:extLst>
                    <a:ext uri="{A12FA001-AC4F-418D-AE19-62706E023703}">
                      <ahyp:hlinkClr val="tx"/>
                    </a:ext>
                  </a:extLst>
                </a:hlinkClick>
              </a:rPr>
              <a:t>Environment-Assisted Invariance, Entanglement, and Probabilities in Quantum Physics</a:t>
            </a:r>
            <a:r>
              <a:rPr lang="en" sz="1200">
                <a:solidFill>
                  <a:schemeClr val="lt1"/>
                </a:solidFill>
              </a:rPr>
              <a:t> </a:t>
            </a:r>
            <a:endParaRPr sz="1200">
              <a:solidFill>
                <a:schemeClr val="lt1"/>
              </a:solidFill>
            </a:endParaRPr>
          </a:p>
          <a:p>
            <a:pPr indent="0" lvl="0" marL="0" rtl="0" algn="l">
              <a:lnSpc>
                <a:spcPct val="100000"/>
              </a:lnSpc>
              <a:spcBef>
                <a:spcPts val="1200"/>
              </a:spcBef>
              <a:spcAft>
                <a:spcPts val="0"/>
              </a:spcAft>
              <a:buNone/>
            </a:pPr>
            <a:r>
              <a:rPr lang="en" sz="1200">
                <a:solidFill>
                  <a:schemeClr val="lt1"/>
                </a:solidFill>
              </a:rPr>
              <a:t>[3] </a:t>
            </a:r>
            <a:r>
              <a:rPr lang="en" sz="1200">
                <a:solidFill>
                  <a:schemeClr val="lt1"/>
                </a:solidFill>
                <a:uFill>
                  <a:noFill/>
                </a:uFill>
                <a:hlinkClick r:id="rId5">
                  <a:extLst>
                    <a:ext uri="{A12FA001-AC4F-418D-AE19-62706E023703}">
                      <ahyp:hlinkClr val="tx"/>
                    </a:ext>
                  </a:extLst>
                </a:hlinkClick>
              </a:rPr>
              <a:t>Dynamical Decoupling a tutorial </a:t>
            </a:r>
            <a:endParaRPr sz="1200">
              <a:solidFill>
                <a:schemeClr val="lt1"/>
              </a:solidFill>
            </a:endParaRPr>
          </a:p>
          <a:p>
            <a:pPr indent="0" lvl="0" marL="0" rtl="0" algn="l">
              <a:lnSpc>
                <a:spcPct val="100000"/>
              </a:lnSpc>
              <a:spcBef>
                <a:spcPts val="0"/>
              </a:spcBef>
              <a:spcAft>
                <a:spcPts val="0"/>
              </a:spcAft>
              <a:buNone/>
            </a:pPr>
            <a:r>
              <a:t/>
            </a:r>
            <a:endParaRPr sz="1200">
              <a:solidFill>
                <a:schemeClr val="lt1"/>
              </a:solidFill>
            </a:endParaRPr>
          </a:p>
          <a:p>
            <a:pPr indent="0" lvl="0" marL="0" rtl="0" algn="l">
              <a:lnSpc>
                <a:spcPct val="100000"/>
              </a:lnSpc>
              <a:spcBef>
                <a:spcPts val="0"/>
              </a:spcBef>
              <a:spcAft>
                <a:spcPts val="0"/>
              </a:spcAft>
              <a:buNone/>
            </a:pPr>
            <a:r>
              <a:rPr lang="en" sz="1200">
                <a:solidFill>
                  <a:schemeClr val="lt1"/>
                </a:solidFill>
              </a:rPr>
              <a:t>[4] </a:t>
            </a:r>
            <a:r>
              <a:rPr lang="en" sz="1200">
                <a:solidFill>
                  <a:schemeClr val="lt1"/>
                </a:solidFill>
                <a:uFill>
                  <a:noFill/>
                </a:uFill>
                <a:hlinkClick r:id="rId6">
                  <a:extLst>
                    <a:ext uri="{A12FA001-AC4F-418D-AE19-62706E023703}">
                      <ahyp:hlinkClr val="tx"/>
                    </a:ext>
                  </a:extLst>
                </a:hlinkClick>
              </a:rPr>
              <a:t>High fidelity quantum gates via dynamical decoupling</a:t>
            </a:r>
            <a:r>
              <a:rPr lang="en" sz="1200">
                <a:solidFill>
                  <a:schemeClr val="lt1"/>
                </a:solidFill>
              </a:rPr>
              <a:t> </a:t>
            </a:r>
            <a:endParaRPr sz="1200">
              <a:solidFill>
                <a:schemeClr val="lt1"/>
              </a:solidFill>
            </a:endParaRPr>
          </a:p>
          <a:p>
            <a:pPr indent="0" lvl="0" marL="0" rtl="0" algn="l">
              <a:lnSpc>
                <a:spcPct val="100000"/>
              </a:lnSpc>
              <a:spcBef>
                <a:spcPts val="0"/>
              </a:spcBef>
              <a:spcAft>
                <a:spcPts val="0"/>
              </a:spcAft>
              <a:buNone/>
            </a:pPr>
            <a:r>
              <a:t/>
            </a:r>
            <a:endParaRPr sz="1200">
              <a:solidFill>
                <a:schemeClr val="lt1"/>
              </a:solidFill>
            </a:endParaRPr>
          </a:p>
          <a:p>
            <a:pPr indent="0" lvl="0" marL="0" rtl="0" algn="l">
              <a:lnSpc>
                <a:spcPct val="100000"/>
              </a:lnSpc>
              <a:spcBef>
                <a:spcPts val="0"/>
              </a:spcBef>
              <a:spcAft>
                <a:spcPts val="0"/>
              </a:spcAft>
              <a:buNone/>
            </a:pPr>
            <a:r>
              <a:rPr lang="en" sz="1200">
                <a:solidFill>
                  <a:schemeClr val="lt1"/>
                </a:solidFill>
              </a:rPr>
              <a:t>[5] </a:t>
            </a:r>
            <a:r>
              <a:rPr lang="en" sz="1200">
                <a:solidFill>
                  <a:schemeClr val="lt1"/>
                </a:solidFill>
                <a:uFill>
                  <a:noFill/>
                </a:uFill>
                <a:hlinkClick r:id="rId7">
                  <a:extLst>
                    <a:ext uri="{A12FA001-AC4F-418D-AE19-62706E023703}">
                      <ahyp:hlinkClr val="tx"/>
                    </a:ext>
                  </a:extLst>
                </a:hlinkClick>
              </a:rPr>
              <a:t>Bhattacharya - an overview | ScienceDirect Topics</a:t>
            </a:r>
            <a:r>
              <a:rPr lang="en" sz="1200">
                <a:solidFill>
                  <a:schemeClr val="lt1"/>
                </a:solidFill>
              </a:rPr>
              <a:t> </a:t>
            </a:r>
            <a:endParaRPr sz="1200">
              <a:solidFill>
                <a:schemeClr val="lt1"/>
              </a:solidFill>
            </a:endParaRPr>
          </a:p>
          <a:p>
            <a:pPr indent="0" lvl="0" marL="0" rtl="0" algn="l">
              <a:lnSpc>
                <a:spcPct val="100000"/>
              </a:lnSpc>
              <a:spcBef>
                <a:spcPts val="0"/>
              </a:spcBef>
              <a:spcAft>
                <a:spcPts val="0"/>
              </a:spcAft>
              <a:buNone/>
            </a:pPr>
            <a:r>
              <a:t/>
            </a:r>
            <a:endParaRPr sz="1200">
              <a:solidFill>
                <a:schemeClr val="lt1"/>
              </a:solidFill>
            </a:endParaRPr>
          </a:p>
          <a:p>
            <a:pPr indent="0" lvl="0" marL="0" rtl="0" algn="l">
              <a:lnSpc>
                <a:spcPct val="100000"/>
              </a:lnSpc>
              <a:spcBef>
                <a:spcPts val="0"/>
              </a:spcBef>
              <a:spcAft>
                <a:spcPts val="0"/>
              </a:spcAft>
              <a:buNone/>
            </a:pPr>
            <a:r>
              <a:rPr lang="en" sz="1200">
                <a:solidFill>
                  <a:schemeClr val="lt1"/>
                </a:solidFill>
              </a:rPr>
              <a:t>[6] </a:t>
            </a:r>
            <a:r>
              <a:rPr lang="en" sz="1200">
                <a:solidFill>
                  <a:schemeClr val="lt1"/>
                </a:solidFill>
                <a:uFill>
                  <a:noFill/>
                </a:uFill>
                <a:hlinkClick r:id="rId8">
                  <a:extLst>
                    <a:ext uri="{A12FA001-AC4F-418D-AE19-62706E023703}">
                      <ahyp:hlinkClr val="tx"/>
                    </a:ext>
                  </a:extLst>
                </a:hlinkClick>
              </a:rPr>
              <a:t>Coherence of a dynamically decoupled single neutral atom</a:t>
            </a:r>
            <a:r>
              <a:rPr lang="en" sz="1200">
                <a:solidFill>
                  <a:schemeClr val="lt1"/>
                </a:solidFill>
              </a:rPr>
              <a:t> </a:t>
            </a:r>
            <a:endParaRPr sz="1200">
              <a:solidFill>
                <a:schemeClr val="lt1"/>
              </a:solidFill>
            </a:endParaRPr>
          </a:p>
          <a:p>
            <a:pPr indent="0" lvl="0" marL="0" rtl="0" algn="l">
              <a:lnSpc>
                <a:spcPct val="100000"/>
              </a:lnSpc>
              <a:spcBef>
                <a:spcPts val="0"/>
              </a:spcBef>
              <a:spcAft>
                <a:spcPts val="0"/>
              </a:spcAft>
              <a:buNone/>
            </a:pPr>
            <a:r>
              <a:t/>
            </a:r>
            <a:endParaRPr sz="1200">
              <a:solidFill>
                <a:schemeClr val="lt1"/>
              </a:solidFill>
            </a:endParaRPr>
          </a:p>
          <a:p>
            <a:pPr indent="0" lvl="0" marL="0" rtl="0" algn="l">
              <a:lnSpc>
                <a:spcPct val="100000"/>
              </a:lnSpc>
              <a:spcBef>
                <a:spcPts val="0"/>
              </a:spcBef>
              <a:spcAft>
                <a:spcPts val="0"/>
              </a:spcAft>
              <a:buNone/>
            </a:pPr>
            <a:r>
              <a:rPr lang="en" sz="1200">
                <a:solidFill>
                  <a:schemeClr val="lt1"/>
                </a:solidFill>
              </a:rPr>
              <a:t>[7] </a:t>
            </a:r>
            <a:r>
              <a:rPr lang="en" sz="1200">
                <a:solidFill>
                  <a:schemeClr val="lt1"/>
                </a:solidFill>
                <a:uFill>
                  <a:noFill/>
                </a:uFill>
                <a:hlinkClick r:id="rId9">
                  <a:extLst>
                    <a:ext uri="{A12FA001-AC4F-418D-AE19-62706E023703}">
                      <ahyp:hlinkClr val="tx"/>
                    </a:ext>
                  </a:extLst>
                </a:hlinkClick>
              </a:rPr>
              <a:t>Coherence of a dynamically decoupled single neutral atom</a:t>
            </a:r>
            <a:r>
              <a:rPr lang="en" sz="1200">
                <a:solidFill>
                  <a:schemeClr val="lt1"/>
                </a:solidFill>
              </a:rPr>
              <a:t> </a:t>
            </a:r>
            <a:endParaRPr sz="12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